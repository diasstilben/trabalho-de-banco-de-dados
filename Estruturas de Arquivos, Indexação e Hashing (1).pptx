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DM Sans"/>
      <p:regular r:id="rId25"/>
      <p:bold r:id="rId26"/>
      <p:italic r:id="rId27"/>
      <p:boldItalic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F21DB0-A53D-493C-B839-7E37022C3422}">
  <a:tblStyle styleId="{6FF21DB0-A53D-493C-B839-7E37022C34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SpaceGrotes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10" Type="http://schemas.openxmlformats.org/officeDocument/2006/relationships/image" Target="../media/image18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50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49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7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Relationship Id="rId4" Type="http://schemas.openxmlformats.org/officeDocument/2006/relationships/image" Target="../media/image20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10" Type="http://schemas.openxmlformats.org/officeDocument/2006/relationships/image" Target="../media/image45.png"/><Relationship Id="rId9" Type="http://schemas.openxmlformats.org/officeDocument/2006/relationships/image" Target="../media/image47.png"/><Relationship Id="rId5" Type="http://schemas.openxmlformats.org/officeDocument/2006/relationships/image" Target="../media/image39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09600" y="1482179"/>
            <a:ext cx="381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09600" y="4547145"/>
            <a:ext cx="85725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609600" y="4547145"/>
            <a:ext cx="8572500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09600" y="1748879"/>
            <a:ext cx="10715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SEMINÁRIO DE BANCO DE DADOS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609600" y="2101304"/>
            <a:ext cx="910113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Estruturas de Arquivos,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Indexação e Hashing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609600" y="3747045"/>
            <a:ext cx="10715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Da alocação física em disco à otimização de consultas SQL.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609600" y="4785270"/>
            <a:ext cx="10715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GRUPO 5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609600" y="5090070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João Pedro, Pablo e João Dias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2222152"/>
            <a:ext cx="4667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" name="Google Shape;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75" y="384035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75" y="476428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" name="Google Shape;7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75" y="568820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ESTRUTURAS DE ARQUIVOS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09600" y="85367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Banco de Dados no Disco Rígido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609600" y="1861093"/>
            <a:ext cx="5391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Antes do Sistema Gestor d</a:t>
            </a:r>
            <a:r>
              <a:rPr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e Banco de Dados (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SGBD</a:t>
            </a:r>
            <a:r>
              <a:rPr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executar uma consulta, ele precisa saber como os bits estão salvos no HD/SSD. A estrutura de arquivos define o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formato físico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desse armazenamento.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60775" y="3261268"/>
            <a:ext cx="6951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A Hierarquia de Armazenamento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6600825" y="4832002"/>
            <a:ext cx="559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Paradigma do I/O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6600825" y="5127277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acesso ao disco (I/O) é a operação mais lenta da computação. Toda a arquitetura de BD existe para </a:t>
            </a: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reduzir a quantidade de blocos transferidos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do disco para a memória principal.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895425" y="3783205"/>
            <a:ext cx="5105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Registro (Record):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É a representação física de uma </a:t>
            </a:r>
            <a:r>
              <a:rPr b="0" i="1" lang="en-US" sz="12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linha (tupla)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da tabela. Contém os dados exatos do usuário.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838275" y="4707130"/>
            <a:ext cx="516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Página / Bloco: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Unidade de leitura e escrita do disco (ex: 4KB a 16KB). O disco </a:t>
            </a:r>
            <a:r>
              <a:rPr b="0" i="1" lang="en-US" sz="12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nunca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lê um registro isolado; ele transfere o bloco inteiro para a RAM.</a:t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876375" y="5631055"/>
            <a:ext cx="5124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Arquivo: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O conjunto lógico de blocos que formam uma tabela no SO.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609600" y="1634430"/>
            <a:ext cx="5295900" cy="4766400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096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09600" y="1634430"/>
            <a:ext cx="5295900" cy="381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6096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8959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923925" y="5063430"/>
            <a:ext cx="466725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923925" y="5063430"/>
            <a:ext cx="28575" cy="6858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62865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6286500" y="1634430"/>
            <a:ext cx="52959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2865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5728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775" y="192970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7963" y="1769705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3120330"/>
            <a:ext cx="1428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378708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44538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0825" y="31203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0825" y="378708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00825" y="445383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ESTRUTURAS DE ARQUIVOS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Organização Física dos Registros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262063" y="1780525"/>
            <a:ext cx="43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Arquivo Heap ou </a:t>
            </a:r>
            <a:r>
              <a:rPr b="1" lang="en-US" sz="1650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“Ficheiro Amontoado”</a:t>
            </a: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 (Não Ordenado)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23925" y="239643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Os registros são jogados no arquivo na ordem em que chegam, geralmente no final (append).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38225" y="5177730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Uso: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Tabelas de log, auditoria ou ingestão massiva de dados sem buscas complexas.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938950" y="1780530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Arquivo Sequencial (Ordenado)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00825" y="239643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Os registros são fisicamente ordenados no disco com base em uma Chave de Ordenação (ex: CPF).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81100" y="306318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Inserção O(1):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Extremamente rápida. Apenas grava no último bloco.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90625" y="3729930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Busca O(N):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Péssima. Exige </a:t>
            </a:r>
            <a:r>
              <a:rPr b="0" i="1" lang="en-US" sz="12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Full Table Scan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(varredura completa).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71575" y="439668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Deleção: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Deixa buracos (fragmentação), exigindo rotinas de compactação (Vacuum).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848475" y="306318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Busca O(log N):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Permite Busca Binária, pulando milhares de blocos de uma vez.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67525" y="3729930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Busca por Intervalo: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Excelente. Acha o 1º registro e lê sequencialmente.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867525" y="4396680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Manutenção Cara: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Inserir um registro no meio exige deslocar dados para frente.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609600" y="2625030"/>
            <a:ext cx="5295900" cy="3219450"/>
          </a:xfrm>
          <a:prstGeom prst="roundRect">
            <a:avLst>
              <a:gd fmla="val 1183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286500" y="2625030"/>
            <a:ext cx="5295900" cy="3219450"/>
          </a:xfrm>
          <a:prstGeom prst="roundRect">
            <a:avLst>
              <a:gd fmla="val 1183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09600" y="2625030"/>
            <a:ext cx="57150" cy="32194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971550" y="4587180"/>
            <a:ext cx="46291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286500" y="2625030"/>
            <a:ext cx="57150" cy="3219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648450" y="4301430"/>
            <a:ext cx="46291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971550" y="4587180"/>
            <a:ext cx="4629150" cy="9525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648450" y="4301430"/>
            <a:ext cx="4629150" cy="9525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ESTRUTURAS DE ARQUIVOS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09600" y="704850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Exemplo Prático do </a:t>
            </a:r>
            <a:r>
              <a:rPr b="1" lang="en-US" sz="2700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“Table Scan”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09600" y="1634430"/>
            <a:ext cx="9620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Considere uma tabela de Vendas com </a:t>
            </a:r>
            <a:r>
              <a:rPr b="1" i="0" lang="en-US" sz="18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10.000.000 de registros</a:t>
            </a:r>
            <a:r>
              <a:rPr b="0" i="0" lang="en-US" sz="18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 Cada bloco físico no disco armazena 100 registros. Total = </a:t>
            </a:r>
            <a:r>
              <a:rPr b="1" i="0" lang="en-US" sz="18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100.000 Blocos</a:t>
            </a:r>
            <a:r>
              <a:rPr b="0" i="0" lang="en-US" sz="18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-381000" y="6149280"/>
            <a:ext cx="1295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Conclusão: A organização física reduz drasticamente a latência de disco.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71550" y="2929830"/>
            <a:ext cx="607575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Cenário 1: Arquivo Heap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71550" y="3377505"/>
            <a:ext cx="57864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Consulta: Buscar a venda ID 5.500.000.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71550" y="3787080"/>
            <a:ext cx="4724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Como não há ordem, o SGBD lê o disco do início ao fim.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48450" y="2929830"/>
            <a:ext cx="55435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Cenário 2: Arquivo Ordenado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48450" y="3377505"/>
            <a:ext cx="5543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Consulta: Buscar a venda ID 5.500.000.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48450" y="3787080"/>
            <a:ext cx="5543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SGBD faz busca binária saltando metades.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71550" y="4825305"/>
            <a:ext cx="5786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91C1C"/>
                </a:solidFill>
                <a:latin typeface="Space Grotesk"/>
                <a:ea typeface="Space Grotesk"/>
                <a:cs typeface="Space Grotesk"/>
                <a:sym typeface="Space Grotesk"/>
              </a:rPr>
              <a:t>~50.000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71550" y="5282505"/>
            <a:ext cx="57864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Blocos transferidos p/ RAM em média.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48450" y="4539555"/>
            <a:ext cx="5543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Apenas 17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48450" y="4996755"/>
            <a:ext cx="5543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Blocos lidos (Log₂ de 100.000).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09600" y="3339405"/>
            <a:ext cx="5295900" cy="1362075"/>
          </a:xfrm>
          <a:prstGeom prst="roundRect">
            <a:avLst>
              <a:gd fmla="val 279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600825" y="4246215"/>
            <a:ext cx="4667250" cy="1066800"/>
          </a:xfrm>
          <a:prstGeom prst="roundRect">
            <a:avLst>
              <a:gd fmla="val 3571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2112615"/>
            <a:ext cx="46672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355848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49872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539680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INDEXAÇÃO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é e por que existe?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09600" y="1634430"/>
            <a:ext cx="6950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Guia do Banco de Dados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09600" y="2082105"/>
            <a:ext cx="53911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Mesmo com arquivos ordenados, varrer discos é custoso.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Um índice é uma estrutura de dados auxiliar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projetada para localizar o endereço físico (RID) de um registro usando uma Chave de Busca.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91325" y="4436715"/>
            <a:ext cx="4381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nome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clientes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cpf = </a:t>
            </a:r>
            <a:r>
              <a:rPr b="0" i="0" lang="en-US" sz="15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'12345678900'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00825" y="5465415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índice recebe '123...', resolve rapidamente na memória, e aponta: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"O bloco no disco é o #452"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00100" y="3529905"/>
            <a:ext cx="645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-US" sz="1350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Analogia do Livro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00100" y="3825180"/>
            <a:ext cx="50101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Sem índice: Ler o livro inteiro (table scan) para achar uma palavra.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Com índice: Olhar no sumário remissivo (índice), ver a página e abrir direto nela (acesso pontual).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57250" y="4930080"/>
            <a:ext cx="63722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Vantagem: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Acelera brutalmente leituras (SELECT).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38200" y="5339655"/>
            <a:ext cx="5162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Desvantagem: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Atrasa a escrita (INSERT/UPDATE/DELETE). O índice precisa ser atualizado a cada mudança na tabela. Consome espaço extra.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6096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096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09600" y="1634430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09600" y="1634430"/>
            <a:ext cx="38100" cy="4766369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8959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2865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286500" y="1634430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286500" y="1634430"/>
            <a:ext cx="38100" cy="476636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15728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INDEXAÇÃO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Classificações e Estratégias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52500" y="1948755"/>
            <a:ext cx="60882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Primário vs. Secundário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52500" y="2367855"/>
            <a:ext cx="47339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Índice Primário: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Criado sobre o campo que define a ordem física do arquivo principal (ex: ID na chave primária). O arquivo não pode ter mais de uma ordem física.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52500" y="3548955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Índice Secundário: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Criado sobre campos não ordenados fisicamente (ex: Nome). Ele possui uma lista de ponteiros apontando para registros espalhados por todo o disco.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629400" y="1948755"/>
            <a:ext cx="5562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Denso vs. Esparso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629400" y="2367855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Índice Denso: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Possui uma entrada (chave-ponteiro) para CADA registro da tabela. É rápido, mas consome muita memória RAM. Obrigatório para índices secundários.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629400" y="3291780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Índice Esparso: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Possui uma entrada apenas para o </a:t>
            </a:r>
            <a:r>
              <a:rPr b="0" i="1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primeiro registro de cada bloco de disco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 Bem menor em tamanho. Só funciona se o arquivo base for ordenado.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171717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067550" y="3046065"/>
            <a:ext cx="3733800" cy="704850"/>
          </a:xfrm>
          <a:prstGeom prst="roundRect">
            <a:avLst>
              <a:gd fmla="val 5405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067550" y="3903315"/>
            <a:ext cx="3733800" cy="704850"/>
          </a:xfrm>
          <a:prstGeom prst="roundRect">
            <a:avLst>
              <a:gd fmla="val 54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067550" y="4760565"/>
            <a:ext cx="3733800" cy="704850"/>
          </a:xfrm>
          <a:prstGeom prst="roundRect">
            <a:avLst>
              <a:gd fmla="val 5405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69170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61563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453955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B-TREE (ÁRVORE B)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Estrutura de Árvore Balanceada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09600" y="1634430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A B-Tree foi criada para manter o desempenho estável independente do tamanho da tabela. Ela ajusta sua própria estrutura durante inserções.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924800" y="2569815"/>
            <a:ext cx="265033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Busca pela chave [45]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753225" y="3198465"/>
            <a:ext cx="4362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Raiz: [20 | 50]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Segue caminho entre 20 e 50 ↓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753225" y="4055715"/>
            <a:ext cx="4362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Nó Interno: [30 | 40]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Segue caminho &gt; 40 ↓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753225" y="4912965"/>
            <a:ext cx="4362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Nó Folha: [45]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Encontrado! O(log N)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14400" y="2634555"/>
            <a:ext cx="5086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Balanceamento Perfeito: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distância da Raiz (Root) até qualquer Nó Folha (Leaf) é rigorosamente a mesma. Acesso constante.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14400" y="3558480"/>
            <a:ext cx="5086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Nós Multivias: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Ao contrário das árvores binárias, um nó da B-Tree pode conter dezenas de chaves e ponteiros, adequando-se ao tamanho do bloco do disco.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76300" y="4482405"/>
            <a:ext cx="5124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Dinâmica: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raiz guia a busca. As chaves delimitam caminhos (ex: ponteiro "menor que 50", ponteiro "entre 50 e 100").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6096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096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609600" y="1634430"/>
            <a:ext cx="52959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096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8959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62865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6286500" y="1634430"/>
            <a:ext cx="52959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2865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115728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600825" y="2396430"/>
            <a:ext cx="4667250" cy="590550"/>
          </a:xfrm>
          <a:prstGeom prst="roundRect">
            <a:avLst>
              <a:gd fmla="val 6451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1203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925" y="40442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496818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B+TREE (ÁRVORE B+)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Evolução e Padrão de Mercado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923925" y="1977330"/>
            <a:ext cx="61257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Diferenças para a B-Tree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23925" y="239643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A B-Tree clássica armazena registros nos nós internos. A B+Tree corrige isso: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600825" y="1977330"/>
            <a:ext cx="5591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Poder do "BETWEEN"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715125" y="2510730"/>
            <a:ext cx="4533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alunos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idade </a:t>
            </a: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BETWEEN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20 </a:t>
            </a: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30;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600825" y="3139380"/>
            <a:ext cx="5591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Como a B+Tree executa: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600825" y="4653855"/>
            <a:ext cx="5591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B5CF6"/>
                </a:solidFill>
                <a:latin typeface="DM Sans"/>
                <a:ea typeface="DM Sans"/>
                <a:cs typeface="DM Sans"/>
                <a:sym typeface="DM Sans"/>
              </a:rPr>
              <a:t>Isso evita ter que descer a árvore 10 vezes (21, 22, 23...).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190625" y="3063180"/>
            <a:ext cx="4495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Nós Internos são Roteadores: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Armazenam APENAS chaves guia. Sem dados. Cabe mais chaves na RAM (maior Fan-out).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1190625" y="3987105"/>
            <a:ext cx="4495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Folhas com Dados: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TODOS os registros (ou ponteiros físicos) ficam estritamente no último nível (Nós Folha).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1228725" y="4911030"/>
            <a:ext cx="44577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Folhas Encadeadas: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As folhas possuem ponteiros umas para as outras, formando uma lista ligada.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696075" y="351085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791325" y="3510855"/>
            <a:ext cx="540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Desce a árvore uma única vez para achar a idade "20".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657975" y="3768030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791325" y="3768030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A partir dessa folha, usa os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ponteiros encadeados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para varrer as folhas vizinhas sequencialmente.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648450" y="4282380"/>
            <a:ext cx="142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791325" y="4282380"/>
            <a:ext cx="540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Pára a leitura ao encontrar "31".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609600" y="3491805"/>
            <a:ext cx="5295900" cy="1438275"/>
          </a:xfrm>
          <a:prstGeom prst="roundRect">
            <a:avLst>
              <a:gd fmla="val 2649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600825" y="3969990"/>
            <a:ext cx="4667250" cy="647700"/>
          </a:xfrm>
          <a:prstGeom prst="roundRect">
            <a:avLst>
              <a:gd fmla="val 5882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6921" y="3360390"/>
            <a:ext cx="235505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HASHING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Hashing: Acesso Direto Computado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09600" y="1634430"/>
            <a:ext cx="53911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Se a B+Tree usa "caminhos", o Hashing usa </a:t>
            </a:r>
            <a:r>
              <a:rPr b="1" i="0" lang="en-US" sz="16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matemática</a:t>
            </a:r>
            <a:r>
              <a:rPr b="0" i="0" lang="en-US" sz="16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09600" y="2491680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Hashing descobre o endereço exato de um registro através de um cálculo algébrico aplicado na Chave de Busca, dispensando percursos ou varreduras.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384256" y="2807940"/>
            <a:ext cx="310038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2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Exemplo Clássico: Módulo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169818" y="4122390"/>
            <a:ext cx="55292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h(27) = 27 mod 10 = 7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017418" y="4770090"/>
            <a:ext cx="5834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 que significa?</a:t>
            </a: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 O registro cuja chave é 27 deve ser gravado e buscado diretamente no </a:t>
            </a: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Bucket 7</a:t>
            </a: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 do disco.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923925" y="3806130"/>
            <a:ext cx="61257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Função Hash h(x)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923925" y="410140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É o algoritmo determinístico que mapeia chaves em endereços numéricos ("Buckets" ou "Baldes").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/>
          <p:nvPr/>
        </p:nvSpPr>
        <p:spPr>
          <a:xfrm>
            <a:off x="1614487" y="3112740"/>
            <a:ext cx="762000" cy="7620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7081837" y="3112740"/>
            <a:ext cx="762000" cy="7620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8975" y="386521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2650" y="386521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6325" y="386521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2" y="299844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5512" y="299844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6762" y="322704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44112" y="322704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6. FUNCIONAMENTO DA BUSCA HASHING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Fluxo de Acesso em Tempo O(1)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1471612" y="3112740"/>
            <a:ext cx="1047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76572" y="4103340"/>
            <a:ext cx="26378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Chave SQL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739378" y="4465290"/>
            <a:ext cx="25122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O SGBD recebe WHERE cpf = '999'.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3410247" y="3989040"/>
            <a:ext cx="26378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Cálculo na RAM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3473053" y="4350990"/>
            <a:ext cx="2512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A CPU aplica a função Hash h('999') em microssegundos.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6938962" y="3112740"/>
            <a:ext cx="1047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6143922" y="4103340"/>
            <a:ext cx="26378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Posição Física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6206728" y="4465290"/>
            <a:ext cx="25122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O resultado gera o endereço "Bucket 45".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8877597" y="3989040"/>
            <a:ext cx="26378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Acesso ao Disco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8940403" y="4350990"/>
            <a:ext cx="2512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O braço do disco vai direto ao bloco 45 e retorna o dado.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609600" y="2634555"/>
            <a:ext cx="5295900" cy="1066800"/>
          </a:xfrm>
          <a:prstGeom prst="roundRect">
            <a:avLst>
              <a:gd fmla="val 3571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609600" y="2634555"/>
            <a:ext cx="57150" cy="1066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6600825" y="2769840"/>
            <a:ext cx="466725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306511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450339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7. COLISÕES NO HASHING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Quando a Matemática Falha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09600" y="1634430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domínio de chaves (ex: milhões de CPFs) é quase sempre maior que o número de Buckets físicos. Logo, chaves diferentes fatalmente gerarão o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mesmo resultado matemático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800100" y="2825055"/>
            <a:ext cx="50101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h(27) = 27 mod 10 = 7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 h(37) = 37 mod 10 = 7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 h(47) = 47 mod 10 = 7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09600" y="3929955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 Problema: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O Bucket 7 tem limite de espaço físico (ex: cabe 2 registros). Onde guardamos o 47 se o balde está cheio? Isso é uma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Colisão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600825" y="240789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Técnicas de Tratamento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6905625" y="3007965"/>
            <a:ext cx="44577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Encadeamento (Chaining):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Cria um "bloco de overflow" fora do índice e cria um ponteiro do Bucket 7 para ele, formando uma lista encadeada. Pode gerar listas lentas de varrer.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6829425" y="4446240"/>
            <a:ext cx="4533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Sondagem Linear (Open Addressing):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Se o Bucket 7 está cheio, o BD tenta colocar no 8, depois no 9, e assim por diante. Gera agrupamentos ruins no disco (clusters).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"/>
          <p:cNvSpPr/>
          <p:nvPr/>
        </p:nvSpPr>
        <p:spPr>
          <a:xfrm>
            <a:off x="609600" y="2884140"/>
            <a:ext cx="5295900" cy="2266950"/>
          </a:xfrm>
          <a:prstGeom prst="roundRect">
            <a:avLst>
              <a:gd fmla="val 1680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6286500" y="4817715"/>
            <a:ext cx="5295900" cy="762000"/>
          </a:xfrm>
          <a:prstGeom prst="roundRect">
            <a:avLst>
              <a:gd fmla="val 5000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8" name="Google Shape;3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8418" y="3817590"/>
            <a:ext cx="1338262" cy="489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5081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617565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8. FATOR DE CARGA (LOAD FACTOR)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Medindo a Saturação do Índice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194667" y="3198465"/>
            <a:ext cx="61257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2"/>
                </a:solidFill>
                <a:latin typeface="Space Grotesk"/>
                <a:ea typeface="Space Grotesk"/>
                <a:cs typeface="Space Grotesk"/>
                <a:sym typeface="Space Grotesk"/>
              </a:rPr>
              <a:t>Fórmula de Saturação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340518" y="4379565"/>
            <a:ext cx="5834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 = Elementos armazenados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 = Quantidade de Buckets da tabela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6286500" y="2455515"/>
            <a:ext cx="590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b="1" i="0" lang="en-US" sz="15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α (Alfa)</a:t>
            </a: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dita a probabilidade de ocorrerem colisões.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6572250" y="2893665"/>
            <a:ext cx="510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Exemplo 1: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500 registros (n) em 1000 buckets (m). α = 0.5 (50%). Excelente. Poucas colisões.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6572250" y="3560415"/>
            <a:ext cx="510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Exemplo 2: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900 registros (n) em 1000 buckets (m). α = 0.9 (90%). Tabela quase cheia. Colisões massivas, encadeamentos longos. A busca degrada de O(1) para quase O(N).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6438900" y="4970115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 regra em SGBDs é acionar o redimensionamento do hash quando α atinge ~70%.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/>
          <p:nvPr/>
        </p:nvSpPr>
        <p:spPr>
          <a:xfrm>
            <a:off x="6096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6096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609600" y="1634430"/>
            <a:ext cx="5295900" cy="381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6096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58959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62865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6286500" y="1634430"/>
            <a:ext cx="52959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62865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115728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12033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925" y="378708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0825" y="312033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25" y="404425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9. HASHING ESTÁTICO E DINÂMICO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Problema do Crescimento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923925" y="1977330"/>
            <a:ext cx="61257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Hashing Estático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923925" y="239643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número de posições (m) é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fixo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desde o dia da criação da tabela.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6600825" y="1977330"/>
            <a:ext cx="5591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Hashing Dinâmico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6600825" y="239643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Permite que o índice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cresça e diminua elásticamente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sem parar o SGBD, mantendo o fator de carga saudável.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1209675" y="3063180"/>
            <a:ext cx="447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 Problema: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Conforme o banco cresce, n aumenta e m continua igual. O fator de carga explode.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1209675" y="3729930"/>
            <a:ext cx="44767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Manutenção: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Para consertar, exige criar uma tabela hash inteiramente nova com tamanho maior e recalcular a função para todos os milhões de registros (bloqueia o banco).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6886575" y="3063180"/>
            <a:ext cx="4476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Extendible Hashing: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Usa um diretório de ponteiros. A tabela dobra de tamanho alocando novos ponteiros gradualmente, operando bits.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6848475" y="3987105"/>
            <a:ext cx="4514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Linear Hashing: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tabela cresce bucket por bucket sequencialmente (expansão branda) sem precisar de diretórios paralelos.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/>
          <p:nvPr/>
        </p:nvSpPr>
        <p:spPr>
          <a:xfrm>
            <a:off x="609600" y="1634430"/>
            <a:ext cx="10972800" cy="4324350"/>
          </a:xfrm>
          <a:prstGeom prst="roundRect">
            <a:avLst>
              <a:gd fmla="val 8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3901678" y="1634430"/>
            <a:ext cx="9525" cy="5810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7742039" y="1634430"/>
            <a:ext cx="9525" cy="5810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3901678" y="2215455"/>
            <a:ext cx="9525" cy="642937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7742039" y="2215455"/>
            <a:ext cx="9525" cy="642937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3901678" y="2858392"/>
            <a:ext cx="9525" cy="647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7742039" y="2858392"/>
            <a:ext cx="9525" cy="647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3901678" y="3506092"/>
            <a:ext cx="9525" cy="647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7742039" y="3506092"/>
            <a:ext cx="9525" cy="647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3901678" y="4153792"/>
            <a:ext cx="9525" cy="90487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7742039" y="4153792"/>
            <a:ext cx="9525" cy="90487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3901678" y="5058667"/>
            <a:ext cx="9525" cy="90011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7742039" y="5058667"/>
            <a:ext cx="9525" cy="90011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4" name="Google Shape;364;p26"/>
          <p:cNvGraphicFramePr/>
          <p:nvPr/>
        </p:nvGraphicFramePr>
        <p:xfrm>
          <a:off x="609600" y="16344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{6FF21DB0-A53D-493C-B839-7E37022C3422}</a:tableStyleId>
              </a:tblPr>
              <a:tblGrid>
                <a:gridCol w="3292075"/>
                <a:gridCol w="3840350"/>
                <a:gridCol w="3840350"/>
              </a:tblGrid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Cenário / Operação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B+Tree (Árvore)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Índice Hash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Busca por Igualdade (id=5)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Logarítmica O(log N). Rápida.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Constante O(1). Imediata.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Intervalos (BETWEEN, &gt;)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Excelente. Varre as folhas.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91C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Inútil. Dados não estão ordenados.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Dados Ordenados (ORDER BY)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Suporta nativamente.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Não aplicável.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Sensibilidade a Colisões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Não existe esse conceito. Árvore balanceia sozinha.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Alto risco se fator de carga passar de 70%.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Aplicação Padrão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InnoDB (MySQL), PostgreSQL. Discos físicos.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Caches, NoSQL simples, MEMORY engines.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5" name="Google Shape;365;p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10. O CONFRONTO ARQUITETURAL</a:t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B+Tree vs. Hashing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609600" y="2558355"/>
            <a:ext cx="5295900" cy="838200"/>
          </a:xfrm>
          <a:prstGeom prst="roundRect">
            <a:avLst>
              <a:gd fmla="val 4545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609600" y="3548955"/>
            <a:ext cx="381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609600" y="4310955"/>
            <a:ext cx="5295900" cy="838200"/>
          </a:xfrm>
          <a:prstGeom prst="roundRect">
            <a:avLst>
              <a:gd fmla="val 4545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609600" y="5301555"/>
            <a:ext cx="381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6600825" y="3274665"/>
            <a:ext cx="4667250" cy="561975"/>
          </a:xfrm>
          <a:prstGeom prst="roundRect">
            <a:avLst>
              <a:gd fmla="val 6779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11. A VISÃO DO SGBD E DO SQL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Escolha do Otimizador de Consultas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609600" y="1634430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SGBD contém um componente chamado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Otimizador de Consultas (Query Optimizer)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 Ele analisa o SQL e decide qual estrutura de arquivo ou índice usar.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800100" y="2748855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clientes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cpf = </a:t>
            </a:r>
            <a:r>
              <a:rPr b="0" i="0" lang="en-US" sz="15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'12345678900'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sp>
        <p:nvSpPr>
          <p:cNvPr id="381" name="Google Shape;381;p27"/>
          <p:cNvSpPr txBox="1"/>
          <p:nvPr/>
        </p:nvSpPr>
        <p:spPr>
          <a:xfrm>
            <a:off x="723900" y="3548955"/>
            <a:ext cx="5276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Decisão: HASHING.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Sendo uma busca de igualdade exata (ponto), o Hashing permite calcular direto e saltar para o bloco no disco em O(1).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800100" y="4501455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clientes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idade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BETWEEN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20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30;</a:t>
            </a:r>
            <a:endParaRPr/>
          </a:p>
        </p:txBody>
      </p:sp>
      <p:sp>
        <p:nvSpPr>
          <p:cNvPr id="383" name="Google Shape;383;p27"/>
          <p:cNvSpPr txBox="1"/>
          <p:nvPr/>
        </p:nvSpPr>
        <p:spPr>
          <a:xfrm>
            <a:off x="723900" y="5301555"/>
            <a:ext cx="5276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Decisão: B+TREE.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O hash é inútil aqui. A árvore encontra a idade 20 rapidamente (O(log N)) e o SGBD navega pelos ponteiros folha sequencialmente até 30.</a:t>
            </a:r>
            <a:endParaRPr/>
          </a:p>
        </p:txBody>
      </p:sp>
      <p:sp>
        <p:nvSpPr>
          <p:cNvPr id="384" name="Google Shape;384;p27"/>
          <p:cNvSpPr txBox="1"/>
          <p:nvPr/>
        </p:nvSpPr>
        <p:spPr>
          <a:xfrm>
            <a:off x="6600825" y="2903190"/>
            <a:ext cx="559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E se usarmos LIKE?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6791325" y="3465165"/>
            <a:ext cx="4381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nome </a:t>
            </a: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LIKE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'%Silva'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6600825" y="398904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Decisão: TABLE SCAN.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Como o curinga '%' está no início, a B+Tree não consegue classificar a busca. O SGBD vai ler o disco inteiro (O(N)), ignorando os índices, revelando o custo da </a:t>
            </a: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Estrutura de Arquivo Base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8"/>
          <p:cNvSpPr/>
          <p:nvPr/>
        </p:nvSpPr>
        <p:spPr>
          <a:xfrm>
            <a:off x="1562100" y="4146202"/>
            <a:ext cx="9067800" cy="38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12. INTEGRAÇÃO DOS CONCEITOS</a:t>
            </a:r>
            <a:endParaRPr/>
          </a:p>
        </p:txBody>
      </p:sp>
      <p:sp>
        <p:nvSpPr>
          <p:cNvPr id="393" name="Google Shape;393;p28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Fluxo Completo de Acesso aos Dados</a:t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738187" y="2736502"/>
            <a:ext cx="10715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Por que estudamos isso junto? Porque a </a:t>
            </a:r>
            <a:r>
              <a:rPr b="1" i="0" lang="en-US" sz="15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Consulta Eficiente</a:t>
            </a: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depende de uma cascata de decisões arquiteturais. Uma falha numa camada degrada a seguinte.</a:t>
            </a:r>
            <a:endParaRPr/>
          </a:p>
        </p:txBody>
      </p:sp>
      <p:pic>
        <p:nvPicPr>
          <p:cNvPr descr="image.png" id="395" name="Google Shape;3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00" y="376520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3650" y="376520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6200" y="376520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48751" y="376520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9700" y="399380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3200" y="399380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35750" y="399380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39251" y="399380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 txBox="1"/>
          <p:nvPr/>
        </p:nvSpPr>
        <p:spPr>
          <a:xfrm>
            <a:off x="311943" y="4679602"/>
            <a:ext cx="2500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Os Dados (SQL)</a:t>
            </a:r>
            <a:endParaRPr/>
          </a:p>
        </p:txBody>
      </p:sp>
      <p:sp>
        <p:nvSpPr>
          <p:cNvPr id="404" name="Google Shape;404;p28"/>
          <p:cNvSpPr txBox="1"/>
          <p:nvPr/>
        </p:nvSpPr>
        <p:spPr>
          <a:xfrm>
            <a:off x="371475" y="4898677"/>
            <a:ext cx="238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Tabelas lógicas geradas pela modelagem.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3334494" y="4679602"/>
            <a:ext cx="2500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Estrutura Física</a:t>
            </a:r>
            <a:endParaRPr/>
          </a:p>
        </p:txBody>
      </p:sp>
      <p:sp>
        <p:nvSpPr>
          <p:cNvPr id="406" name="Google Shape;406;p28"/>
          <p:cNvSpPr txBox="1"/>
          <p:nvPr/>
        </p:nvSpPr>
        <p:spPr>
          <a:xfrm>
            <a:off x="3394025" y="4898677"/>
            <a:ext cx="238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Heap ou Sequencial. Define o pior caso de I/O.</a:t>
            </a:r>
            <a:endParaRPr/>
          </a:p>
        </p:txBody>
      </p:sp>
      <p:sp>
        <p:nvSpPr>
          <p:cNvPr id="407" name="Google Shape;407;p28"/>
          <p:cNvSpPr txBox="1"/>
          <p:nvPr/>
        </p:nvSpPr>
        <p:spPr>
          <a:xfrm>
            <a:off x="6357044" y="4679602"/>
            <a:ext cx="2500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Índices Base</a:t>
            </a:r>
            <a:endParaRPr/>
          </a:p>
        </p:txBody>
      </p:sp>
      <p:sp>
        <p:nvSpPr>
          <p:cNvPr id="408" name="Google Shape;408;p28"/>
          <p:cNvSpPr txBox="1"/>
          <p:nvPr/>
        </p:nvSpPr>
        <p:spPr>
          <a:xfrm>
            <a:off x="6416575" y="4898677"/>
            <a:ext cx="238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Construídos sobre o disco. Podem ser Densos/Esparsos.</a:t>
            </a:r>
            <a:endParaRPr/>
          </a:p>
        </p:txBody>
      </p:sp>
      <p:sp>
        <p:nvSpPr>
          <p:cNvPr id="409" name="Google Shape;409;p28"/>
          <p:cNvSpPr txBox="1"/>
          <p:nvPr/>
        </p:nvSpPr>
        <p:spPr>
          <a:xfrm>
            <a:off x="9379594" y="4679602"/>
            <a:ext cx="2500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Estratégia Final</a:t>
            </a:r>
            <a:endParaRPr/>
          </a:p>
        </p:txBody>
      </p:sp>
      <p:sp>
        <p:nvSpPr>
          <p:cNvPr id="410" name="Google Shape;410;p28"/>
          <p:cNvSpPr txBox="1"/>
          <p:nvPr/>
        </p:nvSpPr>
        <p:spPr>
          <a:xfrm>
            <a:off x="9439126" y="4898677"/>
            <a:ext cx="238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Otimizador escolhe B+Tree (intervalos) ou Hash (pontual).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"/>
          <p:cNvSpPr/>
          <p:nvPr/>
        </p:nvSpPr>
        <p:spPr>
          <a:xfrm>
            <a:off x="609600" y="1634430"/>
            <a:ext cx="5295900" cy="2707034"/>
          </a:xfrm>
          <a:prstGeom prst="roundRect">
            <a:avLst>
              <a:gd fmla="val 14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6286500" y="1634430"/>
            <a:ext cx="5295900" cy="2707034"/>
          </a:xfrm>
          <a:prstGeom prst="roundRect">
            <a:avLst>
              <a:gd fmla="val 14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609600" y="4722465"/>
            <a:ext cx="10972800" cy="1678334"/>
          </a:xfrm>
          <a:prstGeom prst="roundRect">
            <a:avLst>
              <a:gd fmla="val 22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609600" y="4331940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9"/>
          <p:cNvSpPr/>
          <p:nvPr/>
        </p:nvSpPr>
        <p:spPr>
          <a:xfrm>
            <a:off x="609600" y="1634430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9"/>
          <p:cNvSpPr/>
          <p:nvPr/>
        </p:nvSpPr>
        <p:spPr>
          <a:xfrm>
            <a:off x="609600" y="1634430"/>
            <a:ext cx="38100" cy="2707034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5895975" y="1634430"/>
            <a:ext cx="9525" cy="270703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9"/>
          <p:cNvSpPr/>
          <p:nvPr/>
        </p:nvSpPr>
        <p:spPr>
          <a:xfrm>
            <a:off x="6286500" y="4331940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6286500" y="1634430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6286500" y="1634430"/>
            <a:ext cx="38100" cy="270703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11572875" y="1634430"/>
            <a:ext cx="9525" cy="270703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9"/>
          <p:cNvSpPr/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9"/>
          <p:cNvSpPr/>
          <p:nvPr/>
        </p:nvSpPr>
        <p:spPr>
          <a:xfrm>
            <a:off x="609600" y="4722465"/>
            <a:ext cx="109728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9"/>
          <p:cNvSpPr/>
          <p:nvPr/>
        </p:nvSpPr>
        <p:spPr>
          <a:xfrm>
            <a:off x="609600" y="4722465"/>
            <a:ext cx="38100" cy="167833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9"/>
          <p:cNvSpPr/>
          <p:nvPr/>
        </p:nvSpPr>
        <p:spPr>
          <a:xfrm>
            <a:off x="11572875" y="4722465"/>
            <a:ext cx="9525" cy="167833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0" name="Google Shape;4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97733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9773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5065365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13. CONCLUSÃO</a:t>
            </a:r>
            <a:endParaRPr/>
          </a:p>
        </p:txBody>
      </p:sp>
      <p:sp>
        <p:nvSpPr>
          <p:cNvPr id="434" name="Google Shape;434;p29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Resumo Executivo para SGBDs</a:t>
            </a:r>
            <a:endParaRPr/>
          </a:p>
        </p:txBody>
      </p:sp>
      <p:sp>
        <p:nvSpPr>
          <p:cNvPr id="435" name="Google Shape;435;p29"/>
          <p:cNvSpPr txBox="1"/>
          <p:nvPr/>
        </p:nvSpPr>
        <p:spPr>
          <a:xfrm>
            <a:off x="952500" y="1948755"/>
            <a:ext cx="608826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Chão de Fábrica</a:t>
            </a:r>
            <a:endParaRPr/>
          </a:p>
        </p:txBody>
      </p:sp>
      <p:sp>
        <p:nvSpPr>
          <p:cNvPr id="436" name="Google Shape;436;p29"/>
          <p:cNvSpPr txBox="1"/>
          <p:nvPr/>
        </p:nvSpPr>
        <p:spPr>
          <a:xfrm>
            <a:off x="952500" y="2310705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Estruturas de Arquivos: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Ditadas por Páginas e Blocos. O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Heap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insere rápido e busca mal. O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Sequencial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busca bem mas custa reorganizar.</a:t>
            </a:r>
            <a:endParaRPr/>
          </a:p>
        </p:txBody>
      </p:sp>
      <p:sp>
        <p:nvSpPr>
          <p:cNvPr id="437" name="Google Shape;437;p29"/>
          <p:cNvSpPr txBox="1"/>
          <p:nvPr/>
        </p:nvSpPr>
        <p:spPr>
          <a:xfrm>
            <a:off x="952500" y="3110805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Indexação: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resposta ao gargalo de disco. Estruturas auxiliares (Densas/Esparsas) que trocam espaço em armazenamento por velocidade extrema de leitura.</a:t>
            </a:r>
            <a:endParaRPr/>
          </a:p>
        </p:txBody>
      </p:sp>
      <p:sp>
        <p:nvSpPr>
          <p:cNvPr id="438" name="Google Shape;438;p29"/>
          <p:cNvSpPr txBox="1"/>
          <p:nvPr/>
        </p:nvSpPr>
        <p:spPr>
          <a:xfrm>
            <a:off x="6629400" y="1948755"/>
            <a:ext cx="5562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Padrão Universal</a:t>
            </a:r>
            <a:endParaRPr/>
          </a:p>
        </p:txBody>
      </p:sp>
      <p:sp>
        <p:nvSpPr>
          <p:cNvPr id="439" name="Google Shape;439;p29"/>
          <p:cNvSpPr txBox="1"/>
          <p:nvPr/>
        </p:nvSpPr>
        <p:spPr>
          <a:xfrm>
            <a:off x="6629400" y="2310705"/>
            <a:ext cx="47339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B-Tree e B+Tree: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B+Tree vence nos SGBDs relacionais tirando os dados da raiz, maximizando o Fan-out e encadeando as folhas, o que acelera absurdamente comandos WHERE com BETWEEN, LIKE e ORDER BY.</a:t>
            </a:r>
            <a:endParaRPr/>
          </a:p>
        </p:txBody>
      </p:sp>
      <p:sp>
        <p:nvSpPr>
          <p:cNvPr id="440" name="Google Shape;440;p29"/>
          <p:cNvSpPr txBox="1"/>
          <p:nvPr/>
        </p:nvSpPr>
        <p:spPr>
          <a:xfrm>
            <a:off x="952500" y="5036790"/>
            <a:ext cx="11239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Aceleração Matemática</a:t>
            </a:r>
            <a:endParaRPr/>
          </a:p>
        </p:txBody>
      </p:sp>
      <p:sp>
        <p:nvSpPr>
          <p:cNvPr id="441" name="Google Shape;441;p29"/>
          <p:cNvSpPr txBox="1"/>
          <p:nvPr/>
        </p:nvSpPr>
        <p:spPr>
          <a:xfrm>
            <a:off x="952500" y="5398740"/>
            <a:ext cx="10410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Hashing: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Resolve chaves exatas instantaneamente O(1) gerando endereços diretos no disco. Demanda gerenciamento estrito do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Fator de Carga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e técnicas dinâmicas para conter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Colisões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(Encadeamento/Sondagem). Brilha em consultas pontuais, mas morre em intervalos.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0"/>
          <p:cNvSpPr/>
          <p:nvPr/>
        </p:nvSpPr>
        <p:spPr>
          <a:xfrm>
            <a:off x="4191000" y="4076700"/>
            <a:ext cx="38100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4191000" y="4076700"/>
            <a:ext cx="3810000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8" name="Google Shape;4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3811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2" y="15716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0"/>
          <p:cNvSpPr txBox="1"/>
          <p:nvPr/>
        </p:nvSpPr>
        <p:spPr>
          <a:xfrm>
            <a:off x="4439542" y="2447925"/>
            <a:ext cx="3312914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Obrigado!</a:t>
            </a:r>
            <a:endParaRPr/>
          </a:p>
        </p:txBody>
      </p:sp>
      <p:sp>
        <p:nvSpPr>
          <p:cNvPr id="451" name="Google Shape;451;p30"/>
          <p:cNvSpPr txBox="1"/>
          <p:nvPr/>
        </p:nvSpPr>
        <p:spPr>
          <a:xfrm>
            <a:off x="3173015" y="3276600"/>
            <a:ext cx="58459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Estruturas de Arquivos, Indexação e Hashing</a:t>
            </a:r>
            <a:endParaRPr/>
          </a:p>
        </p:txBody>
      </p:sp>
      <p:sp>
        <p:nvSpPr>
          <p:cNvPr id="452" name="Google Shape;452;p30"/>
          <p:cNvSpPr txBox="1"/>
          <p:nvPr/>
        </p:nvSpPr>
        <p:spPr>
          <a:xfrm>
            <a:off x="3714750" y="4314825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GRUPO 5</a:t>
            </a:r>
            <a:endParaRPr/>
          </a:p>
        </p:txBody>
      </p:sp>
      <p:sp>
        <p:nvSpPr>
          <p:cNvPr id="453" name="Google Shape;453;p30"/>
          <p:cNvSpPr txBox="1"/>
          <p:nvPr/>
        </p:nvSpPr>
        <p:spPr>
          <a:xfrm>
            <a:off x="3714750" y="4619625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João Pedro</a:t>
            </a:r>
            <a:endParaRPr/>
          </a:p>
        </p:txBody>
      </p:sp>
      <p:sp>
        <p:nvSpPr>
          <p:cNvPr id="454" name="Google Shape;454;p30"/>
          <p:cNvSpPr txBox="1"/>
          <p:nvPr/>
        </p:nvSpPr>
        <p:spPr>
          <a:xfrm>
            <a:off x="3714750" y="4905375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Pablo</a:t>
            </a:r>
            <a:endParaRPr/>
          </a:p>
        </p:txBody>
      </p:sp>
      <p:sp>
        <p:nvSpPr>
          <p:cNvPr id="455" name="Google Shape;455;p30"/>
          <p:cNvSpPr txBox="1"/>
          <p:nvPr/>
        </p:nvSpPr>
        <p:spPr>
          <a:xfrm>
            <a:off x="3714750" y="5191125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João Dias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